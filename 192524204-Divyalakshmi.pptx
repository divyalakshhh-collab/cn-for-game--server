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8" r:id="rId9"/>
    <p:sldId id="269" r:id="rId10"/>
    <p:sldId id="275" r:id="rId11"/>
    <p:sldId id="270" r:id="rId12"/>
    <p:sldId id="271" r:id="rId13"/>
    <p:sldId id="261" r:id="rId14"/>
    <p:sldId id="263" r:id="rId15"/>
    <p:sldId id="264" r:id="rId16"/>
    <p:sldId id="26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B884-FFB2-4131-9690-99105C54CDFE}" v="67" dt="2025-12-23T09:18:25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D7E12-9728-4B00-BF23-6643438396AF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131FB-693A-454D-ABE7-5744BB986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6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57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3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4A3-A5EF-0722-CC51-E364786E8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7CCAE-4BCB-571A-F887-C90DA25B5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45188-1B4F-6C9D-6AD0-5C50BF6D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AD976-D338-2AEE-BA3D-DD1C5287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982C-BA30-22D3-F457-FD813380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5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8D6C-059F-30A8-D77D-1D0DFE49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F141-81D7-9AF8-F1F5-502CC60A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C931-5210-A724-81F1-2FB6405D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B95F-85C9-5F04-F614-02F58D57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5826-D56D-A59F-BA89-0394BAAF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3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E542-8DDF-C296-0382-9FB98561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D51A-F3AD-A9DF-9863-36ABA41C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FC66-514D-FEAB-17F2-872C50D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ED11-64BA-30D7-A3D0-4BEE7ED5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6DE34-33A6-0938-6A35-6E9C598E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8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15A4-C45E-1C76-CDF2-2D7AB034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D70E-B764-F9D5-6626-118368D7F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33A7-D910-DDCA-750C-8E025C459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0D3D-A04E-F753-7E0A-931C3530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1E5B3-7921-F16B-A889-6C72B280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A0F81-D7B9-EBCB-8C7E-F3C54E19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9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8D4E-5556-7C89-7DDD-42CD7438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4204B-61EE-0848-7526-10D58BAC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3EA00-12C2-7898-8BBB-3D17D600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9C801-FD92-7CCE-5B20-47BA6FD53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3C7F7-67B9-47AE-AF56-3EBB2CAA5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17D43-AD82-215B-2F76-6DB287C8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4D513-A09E-184E-E4D3-AA3BDBF3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332F-8BEB-ED38-F5CF-1111405D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9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A9BB-AFB9-D234-5BCC-E3B8A948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5AEC4-E91B-C1D6-DCA0-EA01F424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8E958-A46E-9508-0D5F-C110B485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A713D-329C-7746-7DC9-2D2CDB59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5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59D64-8C7F-96E5-4B44-437E717A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CE0-EDFF-DF41-A95C-3E4294AD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C2D1F-D1B2-A8B8-C140-86CC8FEB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9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273F-6A36-CA5F-940F-B9479FDF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A198-13C8-2596-586B-FA2C60E5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126B-5CFA-E5D7-96DA-3F85CD6CD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8722-03C2-CF96-975C-636F689C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CFE79-F955-167F-4C88-EC47E95A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5E4A-1E37-7315-AF38-137B5286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2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F9CD-3950-44A4-1374-FD34052B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B4086-CF4B-CD34-E787-381A50513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8DF5A-67B5-838A-5C62-B9028F254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91370-1062-B583-CF88-8FC51166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0733D-2254-0F4F-44DD-1C5BED7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739C-E608-B621-591D-843F4D85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704B-A27D-A3A8-2038-EE2FF4CA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DB1EC-334A-C538-C841-C93EE24DF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886F-9FFB-FF42-6D6D-6CA3139F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51B0-F3F8-2F58-5CE8-2F185D84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5C916-81CE-31F5-9C71-CD9E1276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3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D83E1-9426-428A-F299-1E3F7D103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24628-264F-00C6-6833-BAD75E1B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C720-6723-8987-1D4F-77F8B242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003E-F7FB-ED49-1D11-F3EBF225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EF15-2D4C-26BE-9513-5B1D0B4D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1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65ECE-879C-F5A1-C90A-D8DC61AD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7718F-4081-A1B1-3DCF-BA680019B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7CE7-08CE-3289-2AAA-2A850B494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4D0B-4B4E-489F-AE33-6F445CE8268C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D4292-E928-85BC-DCDF-DD79057F9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9F460-E91D-E1F4-574B-DCC70F22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5/20/6317?utm_source=chatgpt.com" TargetMode="External"/><Relationship Id="rId13" Type="http://schemas.openxmlformats.org/officeDocument/2006/relationships/hyperlink" Target="https://www.researchgate.net/publication/398058802_Enhancing_Traffic_Engineering_with_AI_Comparative_Analysis_of_Mpls_Sd-WaN_and_SRv6?utm_source=chatgpt.com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doi.org/10.1109/JSAC.2020.3041385" TargetMode="External"/><Relationship Id="rId12" Type="http://schemas.openxmlformats.org/officeDocument/2006/relationships/hyperlink" Target="https://link.springer.com/article/10.1007/s44443-025-00133-z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08.02975" TargetMode="External"/><Relationship Id="rId11" Type="http://schemas.openxmlformats.org/officeDocument/2006/relationships/hyperlink" Target="https://doi.org/10.1007/s44443-025-00133-z" TargetMode="External"/><Relationship Id="rId5" Type="http://schemas.openxmlformats.org/officeDocument/2006/relationships/hyperlink" Target="https://arxiv.org/abs/2210.13763?utm_source=chatgpt.com" TargetMode="External"/><Relationship Id="rId15" Type="http://schemas.openxmlformats.org/officeDocument/2006/relationships/hyperlink" Target="https://doi.org/10.1016/j.rineng.2025.104774" TargetMode="External"/><Relationship Id="rId10" Type="http://schemas.openxmlformats.org/officeDocument/2006/relationships/hyperlink" Target="https://doi.org/10.1016/j.jksuci.2024.102006" TargetMode="External"/><Relationship Id="rId4" Type="http://schemas.openxmlformats.org/officeDocument/2006/relationships/hyperlink" Target="https://arxiv.org/abs/2412.17248?utm_source=chatgpt.com" TargetMode="External"/><Relationship Id="rId9" Type="http://schemas.openxmlformats.org/officeDocument/2006/relationships/hyperlink" Target="https://arxiv.org/abs/2209.12515" TargetMode="External"/><Relationship Id="rId14" Type="http://schemas.openxmlformats.org/officeDocument/2006/relationships/hyperlink" Target="https://doi.org/10.1016/j.comnet.2024.11022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C3E2D9-AB09-ADF7-A3E7-0886F77AE0EF}"/>
              </a:ext>
            </a:extLst>
          </p:cNvPr>
          <p:cNvSpPr/>
          <p:nvPr/>
        </p:nvSpPr>
        <p:spPr>
          <a:xfrm>
            <a:off x="1017813" y="3814761"/>
            <a:ext cx="5818415" cy="249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Santhosh Kumar [192511053]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Avinash V S  [192512017]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Divyalakshmi B [192524204]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[CSA0764] [Computer Networks For a Game server]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[26/12/2025]</a:t>
            </a:r>
          </a:p>
          <a:p>
            <a:pPr algn="ctr"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8250D-936A-33E3-68F0-31AC63DEF922}"/>
              </a:ext>
            </a:extLst>
          </p:cNvPr>
          <p:cNvSpPr/>
          <p:nvPr/>
        </p:nvSpPr>
        <p:spPr>
          <a:xfrm>
            <a:off x="7931511" y="4468244"/>
            <a:ext cx="2736489" cy="974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SENTHIL K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RAJARAM 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14DF3-73AE-D26E-DDDC-2B40594C8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0766BF-97FF-2103-6E0E-0692E5EFB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" y="110218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7082049-0924-86C8-403E-D8AE281A3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132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208B2-F635-3E04-7FCD-0A747C963575}"/>
              </a:ext>
            </a:extLst>
          </p:cNvPr>
          <p:cNvSpPr txBox="1"/>
          <p:nvPr/>
        </p:nvSpPr>
        <p:spPr>
          <a:xfrm>
            <a:off x="2013856" y="1639054"/>
            <a:ext cx="803365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Realization of a Virtual Circuit Network Through Frame Relay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24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ACB5-AF25-ACF9-5D14-14B270F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07"/>
            <a:ext cx="10515600" cy="162469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600" b="0" dirty="0">
                <a:effectLst/>
              </a:rPr>
            </a:br>
            <a:br>
              <a:rPr lang="en-IN" sz="3600" dirty="0"/>
            </a:br>
            <a:endParaRPr lang="en-IN" sz="3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77FEA7-8493-6B22-B072-6D1B39B14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DB7B70D-A9A5-07E5-91D1-E1937A44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3C9385-B4C1-2BBA-B1CC-C339E5E700F6}"/>
              </a:ext>
            </a:extLst>
          </p:cNvPr>
          <p:cNvSpPr/>
          <p:nvPr/>
        </p:nvSpPr>
        <p:spPr>
          <a:xfrm>
            <a:off x="284389" y="1283154"/>
            <a:ext cx="3950153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wide-area network (WAN) using Frame Relay and Permanent Virtual Circuits (PVCs)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multiple branch locations can be interconnected cost-effectively through a single service-provider cloud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DC38A-505F-186E-8674-CF9E82B96F06}"/>
              </a:ext>
            </a:extLst>
          </p:cNvPr>
          <p:cNvSpPr/>
          <p:nvPr/>
        </p:nvSpPr>
        <p:spPr>
          <a:xfrm>
            <a:off x="4474029" y="3799113"/>
            <a:ext cx="6792685" cy="2901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configure a simulated Frame Relay 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routers, PVCs, and DLCIs to replicate real ISP network behavior.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optimize network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stable communication, efficient traffic management, and proper handling of congestion.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28F46-92C6-C163-52CB-B3702A14D69C}"/>
              </a:ext>
            </a:extLst>
          </p:cNvPr>
          <p:cNvSpPr/>
          <p:nvPr/>
        </p:nvSpPr>
        <p:spPr>
          <a:xfrm>
            <a:off x="4528456" y="1201511"/>
            <a:ext cx="6683829" cy="2454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WANs with leased lines are costly and inflexible.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organizations need reliable, scalable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Implement efficient virtual circuits at low cost while simulating real WAN behavior.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8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B5F4-C11D-8010-00AA-BDF41FCF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04CFD9-3149-1073-A400-2E9872D9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1645BD7-9EED-8AE7-CE2A-9C7725F95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22C9AB-6263-ADB1-9695-6B2FA62F545E}"/>
              </a:ext>
            </a:extLst>
          </p:cNvPr>
          <p:cNvSpPr/>
          <p:nvPr/>
        </p:nvSpPr>
        <p:spPr>
          <a:xfrm>
            <a:off x="110218" y="1486921"/>
            <a:ext cx="3841982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Goals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Frame Relay virtual circuit network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routers, PVCs &amp; DLCIs for realistic WAN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performance: low latency, high throughput, reliable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C60BA-136B-C5D3-A708-4E2F02C94B60}"/>
              </a:ext>
            </a:extLst>
          </p:cNvPr>
          <p:cNvSpPr/>
          <p:nvPr/>
        </p:nvSpPr>
        <p:spPr>
          <a:xfrm>
            <a:off x="4132155" y="1486920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the 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costly leased lines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 multi-branch communication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scalability, fault tolerance, and easy management</a:t>
            </a: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D1BC7F-84B9-65E8-F679-54344B56EDDD}"/>
              </a:ext>
            </a:extLst>
          </p:cNvPr>
          <p:cNvSpPr/>
          <p:nvPr/>
        </p:nvSpPr>
        <p:spPr>
          <a:xfrm>
            <a:off x="8196946" y="1486921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WAN simulation with real ISP behavior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throughput, latency, packet delivery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for cost-effective, reliable Frame Relay networks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81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91F-AFCF-30A8-59FC-AFADA431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37329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E88D9B6-6E70-4A4C-9236-E7B846BF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326573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B5F92218-A2D7-101F-5138-ED305286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948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44A5E4-B8A5-9987-8573-767C8B621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305195"/>
              </p:ext>
            </p:extLst>
          </p:nvPr>
        </p:nvGraphicFramePr>
        <p:xfrm>
          <a:off x="201386" y="1500670"/>
          <a:ext cx="11745686" cy="5076765"/>
        </p:xfrm>
        <a:graphic>
          <a:graphicData uri="http://schemas.openxmlformats.org/drawingml/2006/table">
            <a:tbl>
              <a:tblPr/>
              <a:tblGrid>
                <a:gridCol w="740911">
                  <a:extLst>
                    <a:ext uri="{9D8B030D-6E8A-4147-A177-3AD203B41FA5}">
                      <a16:colId xmlns:a16="http://schemas.microsoft.com/office/drawing/2014/main" val="3596888691"/>
                    </a:ext>
                  </a:extLst>
                </a:gridCol>
                <a:gridCol w="3592286">
                  <a:extLst>
                    <a:ext uri="{9D8B030D-6E8A-4147-A177-3AD203B41FA5}">
                      <a16:colId xmlns:a16="http://schemas.microsoft.com/office/drawing/2014/main" val="1607941540"/>
                    </a:ext>
                  </a:extLst>
                </a:gridCol>
                <a:gridCol w="1709057">
                  <a:extLst>
                    <a:ext uri="{9D8B030D-6E8A-4147-A177-3AD203B41FA5}">
                      <a16:colId xmlns:a16="http://schemas.microsoft.com/office/drawing/2014/main" val="3099936976"/>
                    </a:ext>
                  </a:extLst>
                </a:gridCol>
                <a:gridCol w="3135085">
                  <a:extLst>
                    <a:ext uri="{9D8B030D-6E8A-4147-A177-3AD203B41FA5}">
                      <a16:colId xmlns:a16="http://schemas.microsoft.com/office/drawing/2014/main" val="2965881732"/>
                    </a:ext>
                  </a:extLst>
                </a:gridCol>
                <a:gridCol w="2568347">
                  <a:extLst>
                    <a:ext uri="{9D8B030D-6E8A-4147-A177-3AD203B41FA5}">
                      <a16:colId xmlns:a16="http://schemas.microsoft.com/office/drawing/2014/main" val="361151977"/>
                    </a:ext>
                  </a:extLst>
                </a:gridCol>
              </a:tblGrid>
              <a:tr h="700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04296"/>
                  </a:ext>
                </a:extLst>
              </a:tr>
              <a:tr h="99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Taming Imbalance and Complexity in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Optimization-based WAN traffic engineering with analytical modeling and simulation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traffic balance and reduced routing complexity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91655"/>
                  </a:ext>
                </a:extLst>
              </a:tr>
              <a:tr h="669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Teal: Learning-Accelerated Optimization of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al., 2022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integrated with traditional traffic engineering solvers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path computation and improved throughput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56868"/>
                  </a:ext>
                </a:extLst>
              </a:tr>
              <a:tr h="1116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Auto-Scaling Network Resources using Machine Learning to Improve QoS and Reduce Cost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al., 2018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ML models for traffic prediction and dynamic resource scaling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QoS with reduced delay and packet loss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1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Deep Reinforcement Learning for Traffic Engineering in SD-WAN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Troia et al., 2021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adaptive traffic routing decisions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congestion through intelligent path selection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69179"/>
                  </a:ext>
                </a:extLst>
              </a:tr>
              <a:tr h="112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Path Prediction using Intelligent Reinforcement Learning in Software-Defined Networks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Alharbi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using network state feedback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path reliability and failure reduction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353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2A2721-8711-0CA5-0AF7-3225A3834DBA}"/>
              </a:ext>
            </a:extLst>
          </p:cNvPr>
          <p:cNvCxnSpPr/>
          <p:nvPr/>
        </p:nvCxnSpPr>
        <p:spPr>
          <a:xfrm flipV="1">
            <a:off x="160564" y="2061083"/>
            <a:ext cx="11723914" cy="59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43CAA6-66C9-81B0-30A0-24E9E8ECD8A8}"/>
              </a:ext>
            </a:extLst>
          </p:cNvPr>
          <p:cNvCxnSpPr>
            <a:cxnSpLocks/>
          </p:cNvCxnSpPr>
          <p:nvPr/>
        </p:nvCxnSpPr>
        <p:spPr>
          <a:xfrm flipV="1">
            <a:off x="136072" y="1547587"/>
            <a:ext cx="11772899" cy="56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3B3D68-E19D-D4E2-1B45-9B4B8AADF352}"/>
              </a:ext>
            </a:extLst>
          </p:cNvPr>
          <p:cNvCxnSpPr>
            <a:cxnSpLocks/>
          </p:cNvCxnSpPr>
          <p:nvPr/>
        </p:nvCxnSpPr>
        <p:spPr>
          <a:xfrm flipV="1">
            <a:off x="201386" y="3020786"/>
            <a:ext cx="11707585" cy="529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A5D33-DF9F-C8A8-6FD9-5CA25E916B46}"/>
              </a:ext>
            </a:extLst>
          </p:cNvPr>
          <p:cNvCxnSpPr>
            <a:cxnSpLocks/>
          </p:cNvCxnSpPr>
          <p:nvPr/>
        </p:nvCxnSpPr>
        <p:spPr>
          <a:xfrm flipV="1">
            <a:off x="97971" y="3880757"/>
            <a:ext cx="11849101" cy="9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35FA39-4D57-11F9-2881-15C993E2A646}"/>
              </a:ext>
            </a:extLst>
          </p:cNvPr>
          <p:cNvCxnSpPr>
            <a:cxnSpLocks/>
          </p:cNvCxnSpPr>
          <p:nvPr/>
        </p:nvCxnSpPr>
        <p:spPr>
          <a:xfrm flipV="1">
            <a:off x="97971" y="5526823"/>
            <a:ext cx="11811000" cy="72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5EF29C-4D3C-EC8F-79C2-E501D3EBFFFF}"/>
              </a:ext>
            </a:extLst>
          </p:cNvPr>
          <p:cNvCxnSpPr>
            <a:cxnSpLocks/>
          </p:cNvCxnSpPr>
          <p:nvPr/>
        </p:nvCxnSpPr>
        <p:spPr>
          <a:xfrm flipV="1">
            <a:off x="97971" y="6509258"/>
            <a:ext cx="11811000" cy="22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5AA0EF-67D0-314B-C75C-E75CE7B16348}"/>
              </a:ext>
            </a:extLst>
          </p:cNvPr>
          <p:cNvCxnSpPr>
            <a:cxnSpLocks/>
          </p:cNvCxnSpPr>
          <p:nvPr/>
        </p:nvCxnSpPr>
        <p:spPr>
          <a:xfrm>
            <a:off x="44849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0231D0-1EC7-FD34-0A6E-C77D43130EB2}"/>
              </a:ext>
            </a:extLst>
          </p:cNvPr>
          <p:cNvCxnSpPr>
            <a:cxnSpLocks/>
          </p:cNvCxnSpPr>
          <p:nvPr/>
        </p:nvCxnSpPr>
        <p:spPr>
          <a:xfrm>
            <a:off x="7511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325FC3-7B44-3FE1-97DD-2DF6602F5786}"/>
              </a:ext>
            </a:extLst>
          </p:cNvPr>
          <p:cNvCxnSpPr>
            <a:cxnSpLocks/>
          </p:cNvCxnSpPr>
          <p:nvPr/>
        </p:nvCxnSpPr>
        <p:spPr>
          <a:xfrm>
            <a:off x="6155871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D1E1-6D00-247D-488E-B069FBDB13A9}"/>
              </a:ext>
            </a:extLst>
          </p:cNvPr>
          <p:cNvCxnSpPr>
            <a:cxnSpLocks/>
          </p:cNvCxnSpPr>
          <p:nvPr/>
        </p:nvCxnSpPr>
        <p:spPr>
          <a:xfrm>
            <a:off x="9318171" y="1548494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0C139D-9CE9-B774-5C34-EC407EF732D2}"/>
              </a:ext>
            </a:extLst>
          </p:cNvPr>
          <p:cNvCxnSpPr>
            <a:cxnSpLocks/>
          </p:cNvCxnSpPr>
          <p:nvPr/>
        </p:nvCxnSpPr>
        <p:spPr>
          <a:xfrm>
            <a:off x="11908971" y="1577522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06DE9C-5146-F021-4170-5EDFC9E5A59D}"/>
              </a:ext>
            </a:extLst>
          </p:cNvPr>
          <p:cNvCxnSpPr>
            <a:cxnSpLocks/>
          </p:cNvCxnSpPr>
          <p:nvPr/>
        </p:nvCxnSpPr>
        <p:spPr>
          <a:xfrm>
            <a:off x="136072" y="1597280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4B1CEB-AC90-007A-CD73-5D88FBDB095F}"/>
              </a:ext>
            </a:extLst>
          </p:cNvPr>
          <p:cNvCxnSpPr>
            <a:cxnSpLocks/>
          </p:cNvCxnSpPr>
          <p:nvPr/>
        </p:nvCxnSpPr>
        <p:spPr>
          <a:xfrm flipV="1">
            <a:off x="122463" y="4818145"/>
            <a:ext cx="11824609" cy="41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4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D83DC7-4758-05DA-8767-61CC0708822E}"/>
              </a:ext>
            </a:extLst>
          </p:cNvPr>
          <p:cNvSpPr/>
          <p:nvPr/>
        </p:nvSpPr>
        <p:spPr>
          <a:xfrm>
            <a:off x="321130" y="1291771"/>
            <a:ext cx="5034641" cy="40095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Foundation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logical communication paths (PVCs) are created.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frames, DLCIs, and permanent virtual circuits.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data selects the best path across the 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delay, jitter, and throughput are measured.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D5F1A-8132-F6E5-CB58-50DA29D428CC}"/>
              </a:ext>
            </a:extLst>
          </p:cNvPr>
          <p:cNvSpPr/>
          <p:nvPr/>
        </p:nvSpPr>
        <p:spPr>
          <a:xfrm>
            <a:off x="5927273" y="2629354"/>
            <a:ext cx="6117770" cy="4087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SD-WAN and overlay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classic Frame Relay WANs.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practical simulation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virtual circuit configuration, adaptive routing, and real-time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fills this gap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implementing a complete virtual-circuit WAN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configuration, and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modules.</a:t>
            </a:r>
          </a:p>
          <a:p>
            <a:pPr algn="ctr"/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C13715-54C4-AEE2-DCDD-EFD846AE4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12F3541-C336-621F-2B78-0A09E2E53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15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6EAA-9782-9903-268B-89F23A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7D052CBA-E1ED-121E-997B-95C71551C11D}"/>
              </a:ext>
            </a:extLst>
          </p:cNvPr>
          <p:cNvSpPr/>
          <p:nvPr/>
        </p:nvSpPr>
        <p:spPr>
          <a:xfrm>
            <a:off x="1123282" y="573541"/>
            <a:ext cx="4268894" cy="377150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Tools &amp; Frameworks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designing and simulating the virtual circuit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IOS CLI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router configuration and Frame Relay setup.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Relay Cloud Module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PVC/DLCI assignment and WAN emulation.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 End Devices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testing LAN-to-WAN communication.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C9B9E-DA75-7014-D75D-CDB962E6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0"/>
            <a:ext cx="10515600" cy="4948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5CB35E-E1A9-65F0-AC99-98ACBC26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04988E65-9278-4BC4-9843-AC08C6D18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utoShape 4">
            <a:extLst>
              <a:ext uri="{FF2B5EF4-FFF2-40B4-BE49-F238E27FC236}">
                <a16:creationId xmlns:a16="http://schemas.microsoft.com/office/drawing/2014/main" id="{5A4774C4-22A9-ABD2-0CFB-A18E95482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38EF8D-01D1-CF09-4371-DD30C670C17C}"/>
              </a:ext>
            </a:extLst>
          </p:cNvPr>
          <p:cNvSpPr/>
          <p:nvPr/>
        </p:nvSpPr>
        <p:spPr>
          <a:xfrm>
            <a:off x="5548659" y="508453"/>
            <a:ext cx="5419082" cy="412089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</a:t>
            </a:r>
            <a:r>
              <a:rPr lang="en-US" b="1" dirty="0"/>
              <a:t>modular approach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topology for R1–R2–R3.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DLCIs and built PVCs inside the Frame Relay cloud.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router interfaces with Frame Relay encapsulation, IPs, and routes.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PCs and configured gateways for end-to-end communication.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an iterative test-and-validate cycle to ensure each module worked before integration.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8520DDB-A38E-862C-E57E-B0A85C63B906}"/>
              </a:ext>
            </a:extLst>
          </p:cNvPr>
          <p:cNvSpPr/>
          <p:nvPr/>
        </p:nvSpPr>
        <p:spPr>
          <a:xfrm>
            <a:off x="1674702" y="4876800"/>
            <a:ext cx="7587347" cy="175441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Collection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Recorded connectivity results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PVC status with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map/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interface status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brief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Captured key screenshots from Packet Tracer for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59293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62048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Design And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Arcitecture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10" y="3153103"/>
            <a:ext cx="5263056" cy="349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endParaRPr lang="en-US" sz="21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Technology Stack Used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Simulation Tool: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Cisco Packet Tracer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Networking Technology: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Frame Relay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Protocols Used:            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Frame Relay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ICMP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LMI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Operating Mode: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Real-Time Mode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Simulation Mode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9" name="Picture 8" descr="graphviz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3751" y="942482"/>
            <a:ext cx="7078717" cy="2084497"/>
          </a:xfrm>
          <a:prstGeom prst="rect">
            <a:avLst/>
          </a:prstGeom>
        </p:spPr>
      </p:pic>
      <p:pic>
        <p:nvPicPr>
          <p:cNvPr id="6" name="Picture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E421C3BF-949F-500B-052E-4CDF6FBAA5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43" b="11032"/>
          <a:stretch>
            <a:fillRect/>
          </a:stretch>
        </p:blipFill>
        <p:spPr>
          <a:xfrm>
            <a:off x="6849220" y="3026979"/>
            <a:ext cx="4961779" cy="3752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31D4-0F54-A2C6-D76C-E8C54154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0"/>
            <a:ext cx="10515600" cy="63636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F0AEE5-5F9B-C818-023C-AC751A855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B2CBD-C04A-F978-95B4-0D5FB8177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89BF2E-5B3D-F92A-F092-9D0CC0581CBE}"/>
              </a:ext>
            </a:extLst>
          </p:cNvPr>
          <p:cNvSpPr txBox="1"/>
          <p:nvPr/>
        </p:nvSpPr>
        <p:spPr>
          <a:xfrm>
            <a:off x="266361" y="12121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1:Frame Relay Network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D0760-BA65-133F-00B6-F5255F57109F}"/>
              </a:ext>
            </a:extLst>
          </p:cNvPr>
          <p:cNvSpPr txBox="1"/>
          <p:nvPr/>
        </p:nvSpPr>
        <p:spPr>
          <a:xfrm>
            <a:off x="184719" y="1612281"/>
            <a:ext cx="54540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4892E3-6791-C57D-A8D6-740DD89FA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41087"/>
              </p:ext>
            </p:extLst>
          </p:nvPr>
        </p:nvGraphicFramePr>
        <p:xfrm>
          <a:off x="184719" y="2057896"/>
          <a:ext cx="6885863" cy="2706176"/>
        </p:xfrm>
        <a:graphic>
          <a:graphicData uri="http://schemas.openxmlformats.org/drawingml/2006/table">
            <a:tbl>
              <a:tblPr/>
              <a:tblGrid>
                <a:gridCol w="1832567">
                  <a:extLst>
                    <a:ext uri="{9D8B030D-6E8A-4147-A177-3AD203B41FA5}">
                      <a16:colId xmlns:a16="http://schemas.microsoft.com/office/drawing/2014/main" val="1622675023"/>
                    </a:ext>
                  </a:extLst>
                </a:gridCol>
                <a:gridCol w="2404211">
                  <a:extLst>
                    <a:ext uri="{9D8B030D-6E8A-4147-A177-3AD203B41FA5}">
                      <a16:colId xmlns:a16="http://schemas.microsoft.com/office/drawing/2014/main" val="2622601341"/>
                    </a:ext>
                  </a:extLst>
                </a:gridCol>
                <a:gridCol w="2649085">
                  <a:extLst>
                    <a:ext uri="{9D8B030D-6E8A-4147-A177-3AD203B41FA5}">
                      <a16:colId xmlns:a16="http://schemas.microsoft.com/office/drawing/2014/main" val="1797342304"/>
                    </a:ext>
                  </a:extLst>
                </a:gridCol>
              </a:tblGrid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5235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 2811 (with WIC-2T)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LANs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8223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PT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device for testing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48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 Cloud (Frame Relay mode)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Simulates WAN virtual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73741"/>
                  </a:ext>
                </a:extLst>
              </a:tr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Copper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Straight-through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PCs to routers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50137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DCE/DTE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routers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498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FC6F33-43CF-6E28-DA83-B3FDA630309D}"/>
              </a:ext>
            </a:extLst>
          </p:cNvPr>
          <p:cNvSpPr txBox="1"/>
          <p:nvPr/>
        </p:nvSpPr>
        <p:spPr>
          <a:xfrm>
            <a:off x="266361" y="1736500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Used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0B60BF-9912-C770-A733-9ABAD72C15D8}"/>
              </a:ext>
            </a:extLst>
          </p:cNvPr>
          <p:cNvCxnSpPr>
            <a:cxnSpLocks/>
          </p:cNvCxnSpPr>
          <p:nvPr/>
        </p:nvCxnSpPr>
        <p:spPr>
          <a:xfrm>
            <a:off x="1968581" y="2353989"/>
            <a:ext cx="0" cy="2346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103B99-FCB5-91C6-D9B7-8C40DC7CDC4B}"/>
              </a:ext>
            </a:extLst>
          </p:cNvPr>
          <p:cNvCxnSpPr>
            <a:cxnSpLocks/>
          </p:cNvCxnSpPr>
          <p:nvPr/>
        </p:nvCxnSpPr>
        <p:spPr>
          <a:xfrm>
            <a:off x="4345827" y="2353989"/>
            <a:ext cx="0" cy="2509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A2EF38-FAA5-C78C-8ED1-6BB68155F003}"/>
              </a:ext>
            </a:extLst>
          </p:cNvPr>
          <p:cNvCxnSpPr>
            <a:cxnSpLocks/>
          </p:cNvCxnSpPr>
          <p:nvPr/>
        </p:nvCxnSpPr>
        <p:spPr>
          <a:xfrm>
            <a:off x="91964" y="2353989"/>
            <a:ext cx="0" cy="2309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985B48-5C90-2F84-466F-F7C6EDB6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8461" b="39765"/>
          <a:stretch>
            <a:fillRect/>
          </a:stretch>
        </p:blipFill>
        <p:spPr>
          <a:xfrm>
            <a:off x="55110" y="4719532"/>
            <a:ext cx="1074785" cy="21043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355064-F820-4021-D429-CA3F87A8D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033" y="5987383"/>
            <a:ext cx="10895857" cy="83651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C14EE8A-3792-5FB7-CFC9-E217BAE18A3B}"/>
              </a:ext>
            </a:extLst>
          </p:cNvPr>
          <p:cNvSpPr/>
          <p:nvPr/>
        </p:nvSpPr>
        <p:spPr>
          <a:xfrm>
            <a:off x="1418132" y="5274040"/>
            <a:ext cx="3593533" cy="4901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Frame Relay Cloud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00D58E1-50D9-C374-BC6F-510387DAD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17097"/>
              </p:ext>
            </p:extLst>
          </p:nvPr>
        </p:nvGraphicFramePr>
        <p:xfrm>
          <a:off x="7011370" y="1057773"/>
          <a:ext cx="5039775" cy="2563523"/>
        </p:xfrm>
        <a:graphic>
          <a:graphicData uri="http://schemas.openxmlformats.org/drawingml/2006/table">
            <a:tbl>
              <a:tblPr/>
              <a:tblGrid>
                <a:gridCol w="1007955">
                  <a:extLst>
                    <a:ext uri="{9D8B030D-6E8A-4147-A177-3AD203B41FA5}">
                      <a16:colId xmlns:a16="http://schemas.microsoft.com/office/drawing/2014/main" val="1228570673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701425486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770733381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3750043924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364283813"/>
                    </a:ext>
                  </a:extLst>
                </a:gridCol>
              </a:tblGrid>
              <a:tr h="743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(R1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(R2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8547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407091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23183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286440"/>
                  </a:ext>
                </a:extLst>
              </a:tr>
            </a:tbl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757C11-0FEB-7328-488B-7679BE2234EB}"/>
              </a:ext>
            </a:extLst>
          </p:cNvPr>
          <p:cNvCxnSpPr/>
          <p:nvPr/>
        </p:nvCxnSpPr>
        <p:spPr>
          <a:xfrm>
            <a:off x="7967511" y="1202504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CE647D-E212-D23E-1F26-FDA246D868BA}"/>
              </a:ext>
            </a:extLst>
          </p:cNvPr>
          <p:cNvCxnSpPr/>
          <p:nvPr/>
        </p:nvCxnSpPr>
        <p:spPr>
          <a:xfrm>
            <a:off x="8953743" y="1200796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480D51-A737-C336-0EFE-45892F1A22D7}"/>
              </a:ext>
            </a:extLst>
          </p:cNvPr>
          <p:cNvCxnSpPr/>
          <p:nvPr/>
        </p:nvCxnSpPr>
        <p:spPr>
          <a:xfrm>
            <a:off x="9956477" y="1243918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F06B88-9C59-93C6-9A57-B74ECC6B9B20}"/>
              </a:ext>
            </a:extLst>
          </p:cNvPr>
          <p:cNvCxnSpPr/>
          <p:nvPr/>
        </p:nvCxnSpPr>
        <p:spPr>
          <a:xfrm>
            <a:off x="10935913" y="121217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06B010-10DF-7A40-4D46-0ABFAB43E340}"/>
              </a:ext>
            </a:extLst>
          </p:cNvPr>
          <p:cNvCxnSpPr/>
          <p:nvPr/>
        </p:nvCxnSpPr>
        <p:spPr>
          <a:xfrm>
            <a:off x="12008539" y="118634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E26E53B-0819-7FB4-3436-F116680B49F5}"/>
              </a:ext>
            </a:extLst>
          </p:cNvPr>
          <p:cNvSpPr txBox="1"/>
          <p:nvPr/>
        </p:nvSpPr>
        <p:spPr>
          <a:xfrm>
            <a:off x="7070582" y="649840"/>
            <a:ext cx="6095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PVC Assignment Table 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1AE0A0-2A99-6856-BD1F-14EFEB948D4F}"/>
              </a:ext>
            </a:extLst>
          </p:cNvPr>
          <p:cNvCxnSpPr/>
          <p:nvPr/>
        </p:nvCxnSpPr>
        <p:spPr>
          <a:xfrm>
            <a:off x="7012342" y="739558"/>
            <a:ext cx="0" cy="49781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Picture 49" descr="A computer screen shot of a network&#10;&#10;AI-generated content may be incorrect.">
            <a:extLst>
              <a:ext uri="{FF2B5EF4-FFF2-40B4-BE49-F238E27FC236}">
                <a16:creationId xmlns:a16="http://schemas.microsoft.com/office/drawing/2014/main" id="{D08A4948-3F67-FB56-C14C-3CC2E869F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063" y="3518556"/>
            <a:ext cx="3254898" cy="24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6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62D0-CBBB-FCA4-0E6A-D844854F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6" y="197780"/>
            <a:ext cx="11767457" cy="6520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Module:2 Frame Relay Protocol Configuration</a:t>
            </a:r>
            <a:b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6A0C6-6992-2D56-34C6-2BD1AB8B6F46}"/>
              </a:ext>
            </a:extLst>
          </p:cNvPr>
          <p:cNvSpPr txBox="1"/>
          <p:nvPr/>
        </p:nvSpPr>
        <p:spPr>
          <a:xfrm>
            <a:off x="-1974" y="14247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Configured </a:t>
            </a:r>
            <a:r>
              <a:rPr lang="en-US" sz="1600" b="1" dirty="0"/>
              <a:t>serial interfaces</a:t>
            </a:r>
            <a:r>
              <a:rPr lang="en-US" sz="1600" dirty="0"/>
              <a:t> for Frame Relay on both routers.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F5A988-7422-79EF-4BA4-E038EF813456}"/>
              </a:ext>
            </a:extLst>
          </p:cNvPr>
          <p:cNvCxnSpPr>
            <a:cxnSpLocks/>
          </p:cNvCxnSpPr>
          <p:nvPr/>
        </p:nvCxnSpPr>
        <p:spPr>
          <a:xfrm>
            <a:off x="5940158" y="678353"/>
            <a:ext cx="0" cy="6135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>
            <a:extLst>
              <a:ext uri="{FF2B5EF4-FFF2-40B4-BE49-F238E27FC236}">
                <a16:creationId xmlns:a16="http://schemas.microsoft.com/office/drawing/2014/main" id="{9B31DBB6-83E3-8E77-C415-5DDDE5E7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1C102F-7AFC-8533-FF63-2387C8D83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17FE05-D2E3-597D-773A-590079CD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013156"/>
              </p:ext>
            </p:extLst>
          </p:nvPr>
        </p:nvGraphicFramePr>
        <p:xfrm>
          <a:off x="432527" y="2373559"/>
          <a:ext cx="5114691" cy="1463040"/>
        </p:xfrm>
        <a:graphic>
          <a:graphicData uri="http://schemas.openxmlformats.org/drawingml/2006/table">
            <a:tbl>
              <a:tblPr/>
              <a:tblGrid>
                <a:gridCol w="1236043">
                  <a:extLst>
                    <a:ext uri="{9D8B030D-6E8A-4147-A177-3AD203B41FA5}">
                      <a16:colId xmlns:a16="http://schemas.microsoft.com/office/drawing/2014/main" val="3735851858"/>
                    </a:ext>
                  </a:extLst>
                </a:gridCol>
                <a:gridCol w="2173751">
                  <a:extLst>
                    <a:ext uri="{9D8B030D-6E8A-4147-A177-3AD203B41FA5}">
                      <a16:colId xmlns:a16="http://schemas.microsoft.com/office/drawing/2014/main" val="1077600092"/>
                    </a:ext>
                  </a:extLst>
                </a:gridCol>
                <a:gridCol w="1704897">
                  <a:extLst>
                    <a:ext uri="{9D8B030D-6E8A-4147-A177-3AD203B41FA5}">
                      <a16:colId xmlns:a16="http://schemas.microsoft.com/office/drawing/2014/main" val="718666188"/>
                    </a:ext>
                  </a:extLst>
                </a:gridCol>
              </a:tblGrid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746198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834987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84062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2463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21F933-B44E-F961-1D12-022A6CE2081A}"/>
              </a:ext>
            </a:extLst>
          </p:cNvPr>
          <p:cNvSpPr txBox="1"/>
          <p:nvPr/>
        </p:nvSpPr>
        <p:spPr>
          <a:xfrm>
            <a:off x="129946" y="1791287"/>
            <a:ext cx="629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Assignment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4787E-8898-B2E2-7E32-36131BC0FFEA}"/>
              </a:ext>
            </a:extLst>
          </p:cNvPr>
          <p:cNvSpPr txBox="1"/>
          <p:nvPr/>
        </p:nvSpPr>
        <p:spPr>
          <a:xfrm>
            <a:off x="129946" y="4140387"/>
            <a:ext cx="6293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Plan: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649D1A-68FA-4ABC-A34C-B741C8C4A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7562"/>
              </p:ext>
            </p:extLst>
          </p:nvPr>
        </p:nvGraphicFramePr>
        <p:xfrm>
          <a:off x="102326" y="4509719"/>
          <a:ext cx="6093684" cy="1669928"/>
        </p:xfrm>
        <a:graphic>
          <a:graphicData uri="http://schemas.openxmlformats.org/drawingml/2006/table">
            <a:tbl>
              <a:tblPr/>
              <a:tblGrid>
                <a:gridCol w="998449">
                  <a:extLst>
                    <a:ext uri="{9D8B030D-6E8A-4147-A177-3AD203B41FA5}">
                      <a16:colId xmlns:a16="http://schemas.microsoft.com/office/drawing/2014/main" val="1320916483"/>
                    </a:ext>
                  </a:extLst>
                </a:gridCol>
                <a:gridCol w="1275500">
                  <a:extLst>
                    <a:ext uri="{9D8B030D-6E8A-4147-A177-3AD203B41FA5}">
                      <a16:colId xmlns:a16="http://schemas.microsoft.com/office/drawing/2014/main" val="3577946293"/>
                    </a:ext>
                  </a:extLst>
                </a:gridCol>
                <a:gridCol w="1718140">
                  <a:extLst>
                    <a:ext uri="{9D8B030D-6E8A-4147-A177-3AD203B41FA5}">
                      <a16:colId xmlns:a16="http://schemas.microsoft.com/office/drawing/2014/main" val="3039773238"/>
                    </a:ext>
                  </a:extLst>
                </a:gridCol>
                <a:gridCol w="2101595">
                  <a:extLst>
                    <a:ext uri="{9D8B030D-6E8A-4147-A177-3AD203B41FA5}">
                      <a16:colId xmlns:a16="http://schemas.microsoft.com/office/drawing/2014/main" val="1861489280"/>
                    </a:ext>
                  </a:extLst>
                </a:gridCol>
              </a:tblGrid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Subnet Mask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47614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6188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5284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05912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4A0FCB-D9DA-D6BC-4144-75AADE5D2144}"/>
              </a:ext>
            </a:extLst>
          </p:cNvPr>
          <p:cNvCxnSpPr>
            <a:cxnSpLocks/>
          </p:cNvCxnSpPr>
          <p:nvPr/>
        </p:nvCxnSpPr>
        <p:spPr>
          <a:xfrm>
            <a:off x="104502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8ED243-29A0-F9CA-BF58-A8C5DFCBAD12}"/>
              </a:ext>
            </a:extLst>
          </p:cNvPr>
          <p:cNvCxnSpPr>
            <a:cxnSpLocks/>
          </p:cNvCxnSpPr>
          <p:nvPr/>
        </p:nvCxnSpPr>
        <p:spPr>
          <a:xfrm>
            <a:off x="2304028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01F259-50F3-B77B-F029-8A35FE9575BA}"/>
              </a:ext>
            </a:extLst>
          </p:cNvPr>
          <p:cNvCxnSpPr>
            <a:cxnSpLocks/>
          </p:cNvCxnSpPr>
          <p:nvPr/>
        </p:nvCxnSpPr>
        <p:spPr>
          <a:xfrm>
            <a:off x="3825115" y="4524401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C93E1A-B9BF-B275-31F1-9D9FFE1C1450}"/>
              </a:ext>
            </a:extLst>
          </p:cNvPr>
          <p:cNvCxnSpPr>
            <a:cxnSpLocks/>
          </p:cNvCxnSpPr>
          <p:nvPr/>
        </p:nvCxnSpPr>
        <p:spPr>
          <a:xfrm>
            <a:off x="572865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4F2588-089D-1507-304C-7B8DEAE10A8D}"/>
              </a:ext>
            </a:extLst>
          </p:cNvPr>
          <p:cNvCxnSpPr>
            <a:cxnSpLocks/>
          </p:cNvCxnSpPr>
          <p:nvPr/>
        </p:nvCxnSpPr>
        <p:spPr>
          <a:xfrm>
            <a:off x="36124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9CF1E6-D0BC-C9C2-6D40-2454E774F666}"/>
              </a:ext>
            </a:extLst>
          </p:cNvPr>
          <p:cNvCxnSpPr>
            <a:cxnSpLocks/>
          </p:cNvCxnSpPr>
          <p:nvPr/>
        </p:nvCxnSpPr>
        <p:spPr>
          <a:xfrm>
            <a:off x="14789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10F924-3C51-95F3-99F2-313358B98E71}"/>
              </a:ext>
            </a:extLst>
          </p:cNvPr>
          <p:cNvCxnSpPr>
            <a:cxnSpLocks/>
          </p:cNvCxnSpPr>
          <p:nvPr/>
        </p:nvCxnSpPr>
        <p:spPr>
          <a:xfrm>
            <a:off x="280118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8FD8DD-6324-CAD2-600B-8434498786CE}"/>
              </a:ext>
            </a:extLst>
          </p:cNvPr>
          <p:cNvCxnSpPr>
            <a:cxnSpLocks/>
          </p:cNvCxnSpPr>
          <p:nvPr/>
        </p:nvCxnSpPr>
        <p:spPr>
          <a:xfrm>
            <a:off x="3512135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A9E0CA-5F11-6044-4152-511ABAE8EC4D}"/>
              </a:ext>
            </a:extLst>
          </p:cNvPr>
          <p:cNvCxnSpPr>
            <a:cxnSpLocks/>
          </p:cNvCxnSpPr>
          <p:nvPr/>
        </p:nvCxnSpPr>
        <p:spPr>
          <a:xfrm>
            <a:off x="49278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FB6483-28F0-1CF7-96E9-47B6D53FE483}"/>
              </a:ext>
            </a:extLst>
          </p:cNvPr>
          <p:cNvSpPr txBox="1"/>
          <p:nvPr/>
        </p:nvSpPr>
        <p:spPr>
          <a:xfrm>
            <a:off x="6013674" y="994006"/>
            <a:ext cx="31381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10.0.0.1 255.255.255.0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9F4C4A-B4DD-D585-F8D1-0FD3A7CC82AE}"/>
              </a:ext>
            </a:extLst>
          </p:cNvPr>
          <p:cNvSpPr txBox="1"/>
          <p:nvPr/>
        </p:nvSpPr>
        <p:spPr>
          <a:xfrm>
            <a:off x="9090017" y="863019"/>
            <a:ext cx="30856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10.0.0.2 255.255.255.0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543C3E-7141-DBA2-F983-E1C405199A20}"/>
              </a:ext>
            </a:extLst>
          </p:cNvPr>
          <p:cNvCxnSpPr>
            <a:cxnSpLocks/>
          </p:cNvCxnSpPr>
          <p:nvPr/>
        </p:nvCxnSpPr>
        <p:spPr>
          <a:xfrm>
            <a:off x="9002117" y="777833"/>
            <a:ext cx="0" cy="27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FE59E9E-B758-8A2C-CC76-61E2D25F5FE2}"/>
              </a:ext>
            </a:extLst>
          </p:cNvPr>
          <p:cNvSpPr txBox="1"/>
          <p:nvPr/>
        </p:nvSpPr>
        <p:spPr>
          <a:xfrm>
            <a:off x="6038134" y="4035985"/>
            <a:ext cx="61037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10.0.0.3 255.255.255.0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2DC691-AD49-DFE4-333B-B313E4852C90}"/>
              </a:ext>
            </a:extLst>
          </p:cNvPr>
          <p:cNvSpPr txBox="1"/>
          <p:nvPr/>
        </p:nvSpPr>
        <p:spPr>
          <a:xfrm>
            <a:off x="5958000" y="493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509A1F-1BC0-3B9E-C822-C420AD11F95E}"/>
              </a:ext>
            </a:extLst>
          </p:cNvPr>
          <p:cNvSpPr txBox="1"/>
          <p:nvPr/>
        </p:nvSpPr>
        <p:spPr>
          <a:xfrm>
            <a:off x="8857087" y="3651933"/>
            <a:ext cx="610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and Gateway IP Assignment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4D8817-C905-4CAE-A518-030911C6466A}"/>
              </a:ext>
            </a:extLst>
          </p:cNvPr>
          <p:cNvSpPr txBox="1"/>
          <p:nvPr/>
        </p:nvSpPr>
        <p:spPr>
          <a:xfrm>
            <a:off x="9078823" y="4046678"/>
            <a:ext cx="6572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Address: 192.168.1.2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255.255.255.0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Gateway: 192.168.1.1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8F92B-0404-B253-646D-91975BCC2FB2}"/>
              </a:ext>
            </a:extLst>
          </p:cNvPr>
          <p:cNvSpPr txBox="1"/>
          <p:nvPr/>
        </p:nvSpPr>
        <p:spPr>
          <a:xfrm>
            <a:off x="9090017" y="4956053"/>
            <a:ext cx="66861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192.168.2.2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R2 = 192.168.2.1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192.168.3.2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192.168.3.1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R3 = 192.168.3.1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B7FD700-C947-A4A3-3226-7DD71AAE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34" y="1160690"/>
            <a:ext cx="9904966" cy="505024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D0201AD-FBFA-6F15-1BAE-614642F05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2FCB4-B70A-77F2-6B2C-A8707C4B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19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7F8491A-F061-32C9-1C65-B80D68AC603E}"/>
              </a:ext>
            </a:extLst>
          </p:cNvPr>
          <p:cNvSpPr/>
          <p:nvPr/>
        </p:nvSpPr>
        <p:spPr>
          <a:xfrm>
            <a:off x="3587494" y="556122"/>
            <a:ext cx="7127704" cy="1530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7A866-8692-C1B4-025F-3C1154E18C5E}"/>
              </a:ext>
            </a:extLst>
          </p:cNvPr>
          <p:cNvSpPr txBox="1"/>
          <p:nvPr/>
        </p:nvSpPr>
        <p:spPr>
          <a:xfrm>
            <a:off x="59872" y="1498422"/>
            <a:ext cx="35868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Frame Relay PVC status: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LMI =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Router-to-Router ping test successful.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PC-to-PC ping test over Frame Relay virtual circuit successful.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FA1605-00D9-661F-AA8C-A70306ABE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E4D3C-6E5C-447E-3DEB-F7514815D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9A4AF-2F2C-E87E-55A3-8214A7C480E8}"/>
              </a:ext>
            </a:extLst>
          </p:cNvPr>
          <p:cNvSpPr txBox="1"/>
          <p:nvPr/>
        </p:nvSpPr>
        <p:spPr>
          <a:xfrm>
            <a:off x="59872" y="4223788"/>
            <a:ext cx="5818415" cy="122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10.0.0.1   (from R2)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10.0.0.2 (from R1)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A2C4D-0375-3851-65A2-AC5CCAB688BA}"/>
              </a:ext>
            </a:extLst>
          </p:cNvPr>
          <p:cNvSpPr txBox="1"/>
          <p:nvPr/>
        </p:nvSpPr>
        <p:spPr>
          <a:xfrm>
            <a:off x="16329" y="38702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for Verification: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D731C-C310-1ABE-372C-E6CDE3987836}"/>
              </a:ext>
            </a:extLst>
          </p:cNvPr>
          <p:cNvSpPr txBox="1"/>
          <p:nvPr/>
        </p:nvSpPr>
        <p:spPr>
          <a:xfrm>
            <a:off x="59872" y="566701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Test: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PC2→ 192.168.2.2 / 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 → 192.168.3.2 / Gateway: 192.168.3.1</a:t>
            </a:r>
          </a:p>
        </p:txBody>
      </p:sp>
      <p:pic>
        <p:nvPicPr>
          <p:cNvPr id="4" name="Picture 3" descr="A computer screen with a red arrow pointing at a black screen&#10;&#10;AI-generated content may be incorrect.">
            <a:extLst>
              <a:ext uri="{FF2B5EF4-FFF2-40B4-BE49-F238E27FC236}">
                <a16:creationId xmlns:a16="http://schemas.microsoft.com/office/drawing/2014/main" id="{F6D819BA-1E79-87E2-D057-A07CDE52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531" y="3690049"/>
            <a:ext cx="5923744" cy="3035040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F98684-9F8B-2B58-17B8-190592A22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10" b="6901"/>
          <a:stretch>
            <a:fillRect/>
          </a:stretch>
        </p:blipFill>
        <p:spPr>
          <a:xfrm>
            <a:off x="3587494" y="2155846"/>
            <a:ext cx="4238659" cy="2083689"/>
          </a:xfrm>
          <a:prstGeom prst="rect">
            <a:avLst/>
          </a:prstGeom>
        </p:spPr>
      </p:pic>
      <p:pic>
        <p:nvPicPr>
          <p:cNvPr id="14" name="Picture 13" descr="A group of text on a white background&#10;&#10;AI-generated content may be incorrect.">
            <a:extLst>
              <a:ext uri="{FF2B5EF4-FFF2-40B4-BE49-F238E27FC236}">
                <a16:creationId xmlns:a16="http://schemas.microsoft.com/office/drawing/2014/main" id="{EE920549-908A-5B7D-658B-7C973EB6ED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510"/>
          <a:stretch>
            <a:fillRect/>
          </a:stretch>
        </p:blipFill>
        <p:spPr>
          <a:xfrm>
            <a:off x="3657041" y="572969"/>
            <a:ext cx="6988611" cy="1477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9271CC-14F1-2D8C-998F-4E9F4172ACDE}"/>
              </a:ext>
            </a:extLst>
          </p:cNvPr>
          <p:cNvSpPr txBox="1"/>
          <p:nvPr/>
        </p:nvSpPr>
        <p:spPr>
          <a:xfrm>
            <a:off x="3064329" y="81699"/>
            <a:ext cx="6112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Module:3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Network Testing and Optimization</a:t>
            </a:r>
            <a:b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4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F73767-21B1-DA50-69D1-C0A27AEF1F50}"/>
              </a:ext>
            </a:extLst>
          </p:cNvPr>
          <p:cNvSpPr/>
          <p:nvPr/>
        </p:nvSpPr>
        <p:spPr>
          <a:xfrm>
            <a:off x="140156" y="1514471"/>
            <a:ext cx="5090429" cy="16001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Frame Relay network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connecting multiple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can be transmitted reliably across all virtual interfaces, simulating a real-world WAN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can be monitored in real-time using simulation tools like Packet Tracer.</a:t>
            </a:r>
          </a:p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7C820-7C75-29B6-D449-4AEE5E34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98000D-CB5B-A1DC-15FD-0640A2356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972A66-4CC6-D262-BDA4-6722F5C1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DB720B-6350-9175-DB39-FC93D138315A}"/>
              </a:ext>
            </a:extLst>
          </p:cNvPr>
          <p:cNvSpPr txBox="1"/>
          <p:nvPr/>
        </p:nvSpPr>
        <p:spPr>
          <a:xfrm>
            <a:off x="7155997" y="6067078"/>
            <a:ext cx="6245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Active DLCIs     ███████████████ 80%</a:t>
            </a:r>
          </a:p>
          <a:p>
            <a:r>
              <a:rPr lang="en-IN" dirty="0"/>
              <a:t>Inactive DLCIs ████ 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3C931-DB95-FECB-56FB-DD134C1C4C50}"/>
              </a:ext>
            </a:extLst>
          </p:cNvPr>
          <p:cNvSpPr txBox="1"/>
          <p:nvPr/>
        </p:nvSpPr>
        <p:spPr>
          <a:xfrm>
            <a:off x="7155997" y="556881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Active vs Inactive </a:t>
            </a:r>
            <a:r>
              <a:rPr lang="fr-FR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493E5-3A08-B2A9-FED8-7C12C9C3BE87}"/>
              </a:ext>
            </a:extLst>
          </p:cNvPr>
          <p:cNvSpPr txBox="1"/>
          <p:nvPr/>
        </p:nvSpPr>
        <p:spPr>
          <a:xfrm>
            <a:off x="7062108" y="261784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Packet Success Rate per Interface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3F0CB0-C090-2481-00AA-FB677E648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05551"/>
              </p:ext>
            </p:extLst>
          </p:nvPr>
        </p:nvGraphicFramePr>
        <p:xfrm>
          <a:off x="91170" y="3561000"/>
          <a:ext cx="6999513" cy="3297000"/>
        </p:xfrm>
        <a:graphic>
          <a:graphicData uri="http://schemas.openxmlformats.org/drawingml/2006/table">
            <a:tbl>
              <a:tblPr/>
              <a:tblGrid>
                <a:gridCol w="1405616">
                  <a:extLst>
                    <a:ext uri="{9D8B030D-6E8A-4147-A177-3AD203B41FA5}">
                      <a16:colId xmlns:a16="http://schemas.microsoft.com/office/drawing/2014/main" val="425269725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69088101"/>
                    </a:ext>
                  </a:extLst>
                </a:gridCol>
                <a:gridCol w="2774497">
                  <a:extLst>
                    <a:ext uri="{9D8B030D-6E8A-4147-A177-3AD203B41FA5}">
                      <a16:colId xmlns:a16="http://schemas.microsoft.com/office/drawing/2014/main" val="1470317932"/>
                    </a:ext>
                  </a:extLst>
                </a:gridCol>
              </a:tblGrid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Manual/Traditional 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Frame Relay Network (Our Project)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29976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Time-consuming, physical cables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setup, fully virtual, no physical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79054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hardware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Simulated high reliability (94–98% packet success)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68964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or periodic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 and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66729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changes require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easy to reconfigure virtual 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64528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only simulation software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3499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1B4F04D-7C7B-E89B-8449-2E4D87565307}"/>
              </a:ext>
            </a:extLst>
          </p:cNvPr>
          <p:cNvSpPr txBox="1"/>
          <p:nvPr/>
        </p:nvSpPr>
        <p:spPr>
          <a:xfrm>
            <a:off x="140156" y="1085392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12CAE7-0923-EBE5-9933-83BEC0C506D0}"/>
              </a:ext>
            </a:extLst>
          </p:cNvPr>
          <p:cNvSpPr txBox="1"/>
          <p:nvPr/>
        </p:nvSpPr>
        <p:spPr>
          <a:xfrm>
            <a:off x="16329" y="3180999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752DC-853B-B5B4-CCB5-F8841CFE6F3D}"/>
              </a:ext>
            </a:extLst>
          </p:cNvPr>
          <p:cNvSpPr txBox="1"/>
          <p:nvPr/>
        </p:nvSpPr>
        <p:spPr>
          <a:xfrm>
            <a:off x="7062108" y="3085030"/>
            <a:ext cx="68144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100%┤                                      </a:t>
            </a:r>
          </a:p>
          <a:p>
            <a:r>
              <a:rPr lang="en-IN" dirty="0"/>
              <a:t> 98% ┤ █                                        </a:t>
            </a:r>
          </a:p>
          <a:p>
            <a:r>
              <a:rPr lang="en-IN" dirty="0"/>
              <a:t> 97% ┤                █                                    </a:t>
            </a:r>
          </a:p>
          <a:p>
            <a:r>
              <a:rPr lang="en-IN" dirty="0"/>
              <a:t> 96% ┤                               █                              </a:t>
            </a:r>
          </a:p>
          <a:p>
            <a:r>
              <a:rPr lang="en-IN" dirty="0"/>
              <a:t> 95% ┤                                              █                                     </a:t>
            </a:r>
          </a:p>
          <a:p>
            <a:r>
              <a:rPr lang="en-IN" dirty="0"/>
              <a:t> 94% ┤                                                            █                      </a:t>
            </a:r>
          </a:p>
          <a:p>
            <a:r>
              <a:rPr lang="en-IN" dirty="0"/>
              <a:t> 93% ┤</a:t>
            </a:r>
          </a:p>
          <a:p>
            <a:r>
              <a:rPr lang="en-IN" dirty="0"/>
              <a:t>               R1-S0  R2-S0  R2-S1  R3-S1  R3-S2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5D3250-E9C0-F154-F3A7-35C44BEBBC19}"/>
              </a:ext>
            </a:extLst>
          </p:cNvPr>
          <p:cNvCxnSpPr>
            <a:cxnSpLocks/>
          </p:cNvCxnSpPr>
          <p:nvPr/>
        </p:nvCxnSpPr>
        <p:spPr>
          <a:xfrm>
            <a:off x="1349829" y="3601820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14A38F-6932-BAA6-0F90-444A079D8FCF}"/>
              </a:ext>
            </a:extLst>
          </p:cNvPr>
          <p:cNvCxnSpPr>
            <a:cxnSpLocks/>
          </p:cNvCxnSpPr>
          <p:nvPr/>
        </p:nvCxnSpPr>
        <p:spPr>
          <a:xfrm>
            <a:off x="4158342" y="3582759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CA4249-290A-93AA-453E-0D5ED8C13E84}"/>
              </a:ext>
            </a:extLst>
          </p:cNvPr>
          <p:cNvCxnSpPr>
            <a:cxnSpLocks/>
          </p:cNvCxnSpPr>
          <p:nvPr/>
        </p:nvCxnSpPr>
        <p:spPr>
          <a:xfrm>
            <a:off x="898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4E12D2-85AA-BA57-9EDC-4151294C75A2}"/>
              </a:ext>
            </a:extLst>
          </p:cNvPr>
          <p:cNvCxnSpPr>
            <a:cxnSpLocks/>
          </p:cNvCxnSpPr>
          <p:nvPr/>
        </p:nvCxnSpPr>
        <p:spPr>
          <a:xfrm>
            <a:off x="69546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027F22C-1A55-CFF6-13DB-A2A5F769D004}"/>
              </a:ext>
            </a:extLst>
          </p:cNvPr>
          <p:cNvSpPr txBox="1"/>
          <p:nvPr/>
        </p:nvSpPr>
        <p:spPr>
          <a:xfrm>
            <a:off x="5942881" y="1298563"/>
            <a:ext cx="5904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setup time, automated monitoring, and easy network reconfiguration in a virtual environment.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1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036D-AE26-089E-4AC9-1361760C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43997"/>
            <a:ext cx="10515600" cy="70711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15A64-F2D2-FA37-8501-FFA9307AD7DB}"/>
              </a:ext>
            </a:extLst>
          </p:cNvPr>
          <p:cNvSpPr/>
          <p:nvPr/>
        </p:nvSpPr>
        <p:spPr>
          <a:xfrm>
            <a:off x="239480" y="1227365"/>
            <a:ext cx="5785762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Issues Faced During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multiple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DLCIs/PVCs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difficult, as Frame Relay needs manual setup (Xu et al., 2022).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virtual circuits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challenging due to traffic-load sensitivity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modern simulation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slowed debugging for legacy Frame Relay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2025</a:t>
            </a:r>
            <a:r>
              <a:rPr lang="en-IN" dirty="0"/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testing was tricky because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FECN/BECN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across simulators (Troia et al., 2021).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5566A-93EA-AB8B-7E5E-FFA6A8E21D73}"/>
              </a:ext>
            </a:extLst>
          </p:cNvPr>
          <p:cNvSpPr/>
          <p:nvPr/>
        </p:nvSpPr>
        <p:spPr>
          <a:xfrm>
            <a:off x="6166760" y="1227365"/>
            <a:ext cx="5883730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Possible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dynamic routing—major limitation compared to MPLS/SD-WAN.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QoS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delay-sensitive traffic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DLCI management becomes complex as network size grows.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variation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shared links increases latency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limited vendor support, fewer tools, and lower compatibility with modern WAN systems.</a:t>
            </a:r>
          </a:p>
          <a:p>
            <a:pPr algn="ctr"/>
            <a:endParaRPr lang="en-IN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A773CB2-675D-1007-D633-B6FC51114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20C9698-BDDD-0064-1936-9E4BBD99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99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0288-F99F-A9EE-44F3-FA03A9B7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103413"/>
            <a:ext cx="10515600" cy="57762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/>
          <p:nvPr/>
        </p:nvSpPr>
        <p:spPr>
          <a:xfrm>
            <a:off x="239479" y="1485900"/>
            <a:ext cx="5785762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/ Improvements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PVC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automatic re-routing.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QoS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delay/congestion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WAN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(Frame Relay + SD-WAN).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simulation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branches and traffic loads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simulators or hardware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legacy limitations.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47E3C-CC28-95FB-E8C3-DD88507EB75E}"/>
              </a:ext>
            </a:extLst>
          </p:cNvPr>
          <p:cNvSpPr/>
          <p:nvPr/>
        </p:nvSpPr>
        <p:spPr>
          <a:xfrm>
            <a:off x="6096000" y="1485900"/>
            <a:ext cx="5900056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Can Be Extended Further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setup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SD-WAN + VC WAN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enterprise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scripts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PVC/DLCI configuration.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load-based path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 logging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long-term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QoS-sensitive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(VoIP, video, real-time traffic).</a:t>
            </a:r>
          </a:p>
          <a:p>
            <a:pPr algn="ctr"/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86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92E2627-7106-6F77-042D-FC0C56A4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" y="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D5CD59-776C-4110-E4AC-6C1BAF5EE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844" y="0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5FF353-A832-6C4B-DA84-D7E06780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E3D1-BCB3-40E8-3F53-67A960CC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8" y="1115787"/>
            <a:ext cx="11636827" cy="1768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that real WAN behavior can be effectively simulated without costly physical infrastructure. By configuring routers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DLCIs, and PVCs,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virtual circuit creation, traffic analysis, and performance monitoring, providing a practical foundation for understanding 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ISP-level WAN 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communication. enhancements such as QoS tuning, congestion analysis</a:t>
            </a:r>
            <a:r>
              <a:rPr lang="en-US" sz="3800" dirty="0"/>
              <a:t>, and </a:t>
            </a:r>
            <a:r>
              <a:rPr lang="en-US" dirty="0"/>
              <a:t>real-time network optimization.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FD8F5-8083-6FED-E740-230CA2798BB4}"/>
              </a:ext>
            </a:extLst>
          </p:cNvPr>
          <p:cNvSpPr/>
          <p:nvPr/>
        </p:nvSpPr>
        <p:spPr>
          <a:xfrm>
            <a:off x="1559419" y="3043012"/>
            <a:ext cx="8670391" cy="37660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 Simulation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Real WAN behavior can be modeled effectively without physical infrastructure.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Automation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Routers, DLCIs, and PVCs can automate circuit creation and management.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&amp; Performance Analysis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setup allows monitoring of traffic flow and network performance.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hands-on understanding of ISP-level WAN operations.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approach can be scaled for larger networks or future network studies.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8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FD3C-CA54-4BB0-A524-80D1785B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148091"/>
            <a:ext cx="10515600" cy="53838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40A7B8E-F46C-BAC8-AB3D-77052B823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57" y="6264186"/>
            <a:ext cx="10776858" cy="104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1F7B916-CF90-3F49-5C12-88C286458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E9067-1284-F285-58D9-66A8CC17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1B1952-12DF-BF56-6FD3-B5D90813FADD}"/>
              </a:ext>
            </a:extLst>
          </p:cNvPr>
          <p:cNvSpPr txBox="1"/>
          <p:nvPr/>
        </p:nvSpPr>
        <p:spPr>
          <a:xfrm>
            <a:off x="195944" y="1404030"/>
            <a:ext cx="114898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Xin, Y.,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Sasidharam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Wang, C.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Cevik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Taming imbalance and complexity in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arXiv:2412.17248.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https://arxiv.org/abs/2412.17248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Xu, Z., Yan, F.Y., Singh, R., Chiu, J.T., Rush, A.M. and Yu, M., 2022.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Teal: learning-accelerated optimization of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arXiv:2210.13763.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https://arxiv.org/abs/2210.13763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Rahman, S., Ahmed, T., Huynh, M., Tornatore, M. and Mukherjee, B., 2018.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 network resources using machine learning to improve QoS and reduce cost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arXiv:1808.02975.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https://arxiv.org/abs/1808.02975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Troia, S., Sapienza, F.,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and Maier, G., 2021. On deep reinforcement learning for traffic engineering in SD-WAN.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on Selected Areas in Communications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39(8).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https://doi.org/10.1109/JSAC.2020.3041385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F.A., Qureshi, H.K. and Khan, M.W., 2025. Analysis of SD-WAN architectures and techniques for efficient traffic control under transmission constraints.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25(20), p.6317.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https://www.mdpi.com/1424-8220/25/20/6317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QoS policy optimization in SD-WAN, 2022.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https://arxiv.org/abs/2209.12515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Alharbi, A.,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Alenezi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Khan, F., 2024. Reliable path prediction using intelligent reinforcement learning in software-defined networks.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https://doi.org/10.1016/j.jksuci.2024.102006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J., Tang, C., Ma, W. and Xing, W.,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reinforcement learning for software-defined networking traffic engineering.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https://doi.org/10.1007/s44443-025-00133-z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Springer Nature Link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Akharchaf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and Gao, G.,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traffic engineering with AI: Comparative analysis of MPLS, SD-WAN, and SRv6.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and Innovation in Social Science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9(11), pp.331-349. Available at: https://doi.org/10.47772/IJRISS.2025.91100027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ResearchGate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Pei, X., Sun, P., Hu, Y., Li, D., Chen, B. and Tian, L.,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efficient routing for traffic engineering in SDN with deep reinforcement learning.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241, p.110220.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https://doi.org/10.1016/j.comnet.2024.110220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Masood, M., et al., 2025. </a:t>
            </a:r>
            <a:r>
              <a:rPr lang="en-IN" sz="1400" i="1" dirty="0"/>
              <a:t>Enhanced optimisation of MPLS network traffic using a novel adjustable Bat algorithm with loudness optimizer.</a:t>
            </a:r>
            <a:r>
              <a:rPr lang="en-IN" sz="1400" dirty="0"/>
              <a:t> </a:t>
            </a:r>
            <a:r>
              <a:rPr lang="en-IN" sz="1400" i="1" dirty="0"/>
              <a:t>Results in Engineering</a:t>
            </a:r>
            <a:r>
              <a:rPr lang="en-IN" sz="1400" dirty="0"/>
              <a:t>, 20, p.104774. Available at: </a:t>
            </a:r>
            <a:r>
              <a:rPr lang="en-IN" sz="1400" dirty="0">
                <a:hlinkClick r:id="rId15"/>
              </a:rPr>
              <a:t>https://doi.org/10.1016/j.rineng.2025.104774</a:t>
            </a:r>
            <a:r>
              <a:rPr lang="en-IN" sz="14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/>
              <a:t>Silalahi</a:t>
            </a:r>
            <a:r>
              <a:rPr lang="en-IN" sz="1400" dirty="0"/>
              <a:t>, L.M., </a:t>
            </a:r>
            <a:r>
              <a:rPr lang="en-IN" sz="1400" dirty="0" err="1"/>
              <a:t>Amaada</a:t>
            </a:r>
            <a:r>
              <a:rPr lang="en-IN" sz="1400" dirty="0"/>
              <a:t>, V., </a:t>
            </a:r>
            <a:r>
              <a:rPr lang="en-IN" sz="1400" dirty="0" err="1"/>
              <a:t>Setiyo</a:t>
            </a:r>
            <a:r>
              <a:rPr lang="en-IN" sz="1400" dirty="0"/>
              <a:t> </a:t>
            </a:r>
            <a:r>
              <a:rPr lang="en-IN" sz="1400" dirty="0" err="1"/>
              <a:t>Budiyanto</a:t>
            </a:r>
            <a:r>
              <a:rPr lang="en-IN" sz="1400" dirty="0"/>
              <a:t>, I.U.V. Simanjuntak and </a:t>
            </a:r>
            <a:r>
              <a:rPr lang="en-IN" sz="1400" dirty="0" err="1"/>
              <a:t>Rochendi</a:t>
            </a:r>
            <a:r>
              <a:rPr lang="en-IN" sz="1400" dirty="0"/>
              <a:t>, A.D., 2024. </a:t>
            </a:r>
            <a:r>
              <a:rPr lang="en-IN" sz="1400" i="1" dirty="0"/>
              <a:t>Implementation of auto failover on SD-WAN technology with BGP routing method on </a:t>
            </a:r>
            <a:r>
              <a:rPr lang="en-IN" sz="1400" i="1" dirty="0" err="1"/>
              <a:t>Fortigate</a:t>
            </a:r>
            <a:r>
              <a:rPr lang="en-IN" sz="1400" i="1" dirty="0"/>
              <a:t> routers.</a:t>
            </a:r>
            <a:r>
              <a:rPr lang="en-IN" sz="1400" dirty="0"/>
              <a:t> </a:t>
            </a:r>
            <a:r>
              <a:rPr lang="en-IN" sz="1400" i="1" dirty="0"/>
              <a:t>International Journal of Electronics and Telecommunications</a:t>
            </a:r>
            <a:r>
              <a:rPr lang="en-IN" sz="1400" dirty="0"/>
              <a:t>, 70(1), pp.5-11. Available at: https://doi.org/10.24425/ijet.2024.149540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42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93338-C86F-0253-E738-5A9585B58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78" t="25325" r="5856" b="29865"/>
          <a:stretch>
            <a:fillRect/>
          </a:stretch>
        </p:blipFill>
        <p:spPr>
          <a:xfrm>
            <a:off x="1909481" y="1113064"/>
            <a:ext cx="8677837" cy="4327071"/>
          </a:xfrm>
          <a:prstGeom prst="rect">
            <a:avLst/>
          </a:prstGeom>
        </p:spPr>
      </p:pic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11D4402F-5FFC-101B-7037-D666302711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2389</Words>
  <Application>Microsoft Office PowerPoint</Application>
  <PresentationFormat>Widescreen</PresentationFormat>
  <Paragraphs>335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  </vt:lpstr>
      <vt:lpstr>Introduction  </vt:lpstr>
      <vt:lpstr>Objectives  </vt:lpstr>
      <vt:lpstr>Literature Review / Background</vt:lpstr>
      <vt:lpstr>PowerPoint Presentation</vt:lpstr>
      <vt:lpstr>Methodology</vt:lpstr>
      <vt:lpstr>System Design And Arcitecture</vt:lpstr>
      <vt:lpstr>Implementation</vt:lpstr>
      <vt:lpstr>Module:2 Frame Relay Protocol Configuration  </vt:lpstr>
      <vt:lpstr>PowerPoint Presentation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Santhosh Kumar B</dc:creator>
  <cp:lastModifiedBy>DEll</cp:lastModifiedBy>
  <cp:revision>8</cp:revision>
  <dcterms:created xsi:type="dcterms:W3CDTF">2025-12-05T19:29:05Z</dcterms:created>
  <dcterms:modified xsi:type="dcterms:W3CDTF">2025-12-24T04:15:11Z</dcterms:modified>
</cp:coreProperties>
</file>